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extended-properties" Target="docProps/app.xml"></Relationship>
  <Relationship Id="rId2" Type="http://schemas.openxmlformats.org/package/2006/relationships/metadata/core-properties" Target="docProps/core.xml"></Relationship>
  <Relationship Id="rId3" Type="http://schemas.openxmlformats.org/officeDocument/2006/relationships/officeDocument" Target="ppt/presentation.xml"></Relationship>
  <Relationship Id="rId4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4521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200400"/>
            <a:ext cx="3200400" cy="3200400"/>
          </a:xfrm>
          <a:prstGeom prst="ellipse">
            <a:avLst/>
          </a:prstGeom>
          <a:solidFill>
            <a:srgbClr val="14521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645920"/>
            <a:ext cx="7616952" cy="274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828800"/>
            <a:ext cx="7616952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森防慧眼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森林烟雾火焰智能识别与早期预警系统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3566160"/>
            <a:ext cx="7616952" cy="182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74904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基于华为云IoT + HarmonyOS的森林防火智能监控解决方案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东北大学软件工程生产实习 · 课题13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B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智能物联方向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172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项目背景与意义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森林防火形势与系统价值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2176272"/>
            <a:ext cx="9144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26771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2219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2542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端-云-边三层协同架构设计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54480" y="2889504"/>
            <a:ext cx="9144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98094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29352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32552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传感器监控 · 火情判定 · 一键报警 · 防火策略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54480" y="3602736"/>
            <a:ext cx="9144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6941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364845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554480" y="39684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+ 华为云IoT + CNN图像识别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54480" y="4315968"/>
            <a:ext cx="9144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440740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43616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界面展示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554480" y="4681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三张关键界面设计说明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54480" y="5029200"/>
            <a:ext cx="9144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51206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5448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55448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项目成果与未来规划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项目背景与意义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 &amp; SIGNIFICANCE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172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1206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508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现状与挑战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1097280" cy="274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2148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森林火灾年均造成数十亿经济损失与不可逆生态破坏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743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传统人工巡护覆盖盲区大，响应速度慢，夜间无法有效监控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3337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偏远林区通信困难，火情信息传递滞后，错失最佳扑救窗口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5120640" cy="2560320"/>
          </a:xfrm>
          <a:prstGeom prst="roundRect">
            <a:avLst>
              <a:gd name="adj" fmla="val 5357"/>
            </a:avLst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508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森防慧眼方案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1097280" cy="27432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D6A7"/>
                </a:solidFill>
              </a:rPr>
              <a:t>◆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37960" y="2103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物联网多传感器阵列：实时采集温度、湿度、CO₂、烟雾、光照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D6A7"/>
                </a:solidFill>
              </a:rPr>
              <a:t>◆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37960" y="25603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CNN边缘AI推理：精准识别明火、阴燃、烟雾四类火情特征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D6A7"/>
                </a:solidFill>
              </a:rPr>
              <a:t>◆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37960" y="30175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华为云IoT协同：设备影子数据同步 + App端1秒轮询实时监控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D6A7"/>
                </a:solidFill>
              </a:rPr>
              <a:t>◆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34747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四级智能预警：安全→注意→警告→危险，分级联动响应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106070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45160000" dist="322580000" dir="972000000000">
              <a:srgbClr val="000000">
                <a:alpha val="8000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4846320"/>
            <a:ext cx="54864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800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早期预警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1560" y="5166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秒级火情识别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抢占扑救先机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4846320"/>
            <a:ext cx="54864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0" y="4800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精准识别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0" y="5166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CNN分类四类火情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置信度量化评估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4846320"/>
            <a:ext cx="54864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4800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全天候值守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63640" y="5166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24×7 无人值守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1秒数据轮询刷新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41080" y="4846320"/>
            <a:ext cx="54864" cy="91440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39" name="Text 37"/>
          <p:cNvSpPr/>
          <p:nvPr/>
        </p:nvSpPr>
        <p:spPr>
          <a:xfrm>
            <a:off x="8869680" y="4800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6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降本增效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69680" y="5166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替代人工巡护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覆盖偏远林区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 — 端·云·边三层协同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172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173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实时数据看板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14173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4173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火情等级展示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14173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4173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一键报警联动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4173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4173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防火策略查看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华为云IoT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92608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IoTDA设备接入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66360" y="29260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92608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设备影子同步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29260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92608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IAM身份认证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29260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292608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数据安全存储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▼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EF6C0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72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720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STM32边缘端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443484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3E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44348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温湿度传感器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66360" y="443484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3E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4348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烟雾/CO₂传感器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32320" y="443484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3E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44348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光照传感器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98280" y="443484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3E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280" y="44348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CNN火情推理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424160" y="1417320"/>
            <a:ext cx="822960" cy="4251960"/>
          </a:xfrm>
          <a:prstGeom prst="roundRect">
            <a:avLst>
              <a:gd name="adj" fmla="val 13333"/>
            </a:avLst>
          </a:prstGeom>
          <a:solidFill>
            <a:srgbClr val="F1F8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24160" y="164592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424160" y="320040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核心功能（一）：传感器数据监控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REAL-TIME SENSOR MONITORING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172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193532000000" dist="4096766000000" dir="58320000000000000">
              <a:srgbClr val="000000">
                <a:alpha val="800000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109728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3716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4057856400000000" dist="52028928200000000" dir="3.4992e+21">
              <a:srgbClr val="000000">
                <a:alpha val="80000000000000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2788920"/>
            <a:ext cx="1097280" cy="27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3716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2153477628e+21" dist="660767388140000000000" dir="2.09952e+26">
              <a:srgbClr val="000000">
                <a:alpha val="8e+23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2788920"/>
            <a:ext cx="1097280" cy="2743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13716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3491658756e+25" dist="8.391745829378e+24" dir="1.259712e+31">
              <a:srgbClr val="000000">
                <a:alpha val="8e+28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💨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烟雾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浓度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2788920"/>
            <a:ext cx="1097280" cy="27432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5440" y="13716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315034406620118e+29" dist="1.0657517203310059e+29" dir="7.558272e+35">
              <a:srgbClr val="000000">
                <a:alpha val="8e+33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3544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☀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23544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3544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92640" y="2788920"/>
            <a:ext cx="109728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383280"/>
            <a:ext cx="106070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707009369640755e+33" dist="1.3535046848203775e+33" dir="4.5349632e+40">
              <a:srgbClr val="000000">
                <a:alpha val="8e+38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3566160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566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88720" y="35204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设备影子同步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3813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华为云IoTDA Device Shadow机制，STM32上报数据实时写入云端影子，App端通过REST API每秒轮询获取最新传感器读数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4279392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279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88720" y="4233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智能变色预警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数据超出安全阈值时自动变色 —— 温度&gt;45°C红色、湿度&lt;30%红色、CO₂&gt;1000ppm红色、烟雾&gt;800红色，视觉直观识别异常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4992624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4992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88720" y="494690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AI置信度辅助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88720" y="52395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CNN模型输出的置信度分数实时显示，配合传感器数据交叉验证，降低误报率，提升火情判断准确度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核心功能（二）：火情等级智能判定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INTELLIGENT FIRE LEVEL ASSESSMENT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172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2194560"/>
            <a:ext cx="4754880" cy="13716"/>
          </a:xfrm>
          <a:prstGeom prst="rect">
            <a:avLst/>
          </a:prstGeom>
          <a:solidFill>
            <a:srgbClr val="2E7D32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860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温度&lt;30°C, 湿度&gt;40%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无烟雾, CO₂&lt;500ppm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置信度&lt;30%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FFFDE7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72200" y="2194560"/>
            <a:ext cx="4754880" cy="13716"/>
          </a:xfrm>
          <a:prstGeom prst="rect">
            <a:avLst/>
          </a:prstGeom>
          <a:solidFill>
            <a:srgbClr val="F9A825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2860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温度30~45°C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CO₂ 500~800ppm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置信度30%~50%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FFF3E0"/>
          </a:solidFill>
          <a:ln w="25400">
            <a:solidFill>
              <a:srgbClr val="EF6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31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🔶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716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6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警告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85800" y="4526280"/>
            <a:ext cx="4754880" cy="13716"/>
          </a:xfrm>
          <a:prstGeom prst="rect">
            <a:avLst/>
          </a:prstGeom>
          <a:solidFill>
            <a:srgbClr val="EF6C00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6177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温度45~65°C, 湿度&lt;30%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CO₂ 800~1500ppm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置信度50%~80%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374904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931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172200" y="4526280"/>
            <a:ext cx="4754880" cy="13716"/>
          </a:xfrm>
          <a:prstGeom prst="rect">
            <a:avLst/>
          </a:prstGeom>
          <a:solidFill>
            <a:srgbClr val="C62828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46177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温度&gt;65°C, 湿度极低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CO₂&gt;1500ppm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置信度&gt;80%, 确认火灾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CNN图像识别支持：无火情 / 明火 / 阴燃 / 烟雾  四种火情类型精确区分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核心功能（三）：一键报警与防火策略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ONE-TAP ALARM &amp; PREVENTION STRATEGIES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172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0292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437901899443759e+37" dist="1.7189509497218795e+37" dir="2.72097792e+45">
              <a:srgbClr val="000000">
                <a:alpha val="8e+4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54480"/>
            <a:ext cx="4480560" cy="91440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🚨  一键报火警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App内红色醒目报警按钮，一键触发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900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二次确认弹窗，防止误触操作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826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确认后自动唤起系统电话拨号 119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57530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同步远程推送火情信息至管理端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371600"/>
            <a:ext cx="5212080" cy="2560320"/>
          </a:xfrm>
          <a:prstGeom prst="roundRect">
            <a:avLst>
              <a:gd name="adj" fmla="val 5357"/>
            </a:avLst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08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防火策略系统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安全期：定期清理隔离带 · 每日巡逻 · 设备点检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5237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注意期：增加巡逻频次 · 无人机巡航 · 队伍待命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9443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警告期：启动应急预案 · 封锁入口 · 实时监控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3649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危险期：一级响应 · 全线扑救 · 居民疏散 · 联合指挥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106070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366135412293574e+41" dist="2.183067706146787e+41" dir="1.632586752e+50">
              <a:srgbClr val="000000">
                <a:alpha val="8e+48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功能亮点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48006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 双Tab设计：火灾等级评判标准 + 四级防火应对策略独立展示，逻辑清晰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51206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 每级策略含5-6条具体可执行措施，覆盖日常预防到紧急扑救全场景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4406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 火情历史记录持久化，支持追溯分析，异常时段精准定位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172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06040" cy="4572000"/>
          </a:xfrm>
          <a:prstGeom prst="roundRect">
            <a:avLst>
              <a:gd name="adj" fmla="val 5263"/>
            </a:avLst>
          </a:prstGeom>
          <a:solidFill>
            <a:srgbClr val="F1F8E9"/>
          </a:solidFill>
          <a:ln/>
          <a:effectLst>
            <a:outerShdw sx="100000" sy="100000" kx="0" ky="0" algn="bl" rotWithShape="0" blurRad="5.544991973612839e+45" dist="2.7724959868064195e+45" dir="9.795520512e+54">
              <a:srgbClr val="000000">
                <a:alpha val="8e+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260604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ArkTS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2880360"/>
            <a:ext cx="1508760" cy="18288"/>
          </a:xfrm>
          <a:prstGeom prst="rect">
            <a:avLst/>
          </a:prstGeom>
          <a:solidFill>
            <a:srgbClr val="1B5E20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54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声明式UI框架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5387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组件化页面开发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9227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@State响应式数据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Router页面路由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06040" cy="4572000"/>
          </a:xfrm>
          <a:prstGeom prst="roundRect">
            <a:avLst>
              <a:gd name="adj" fmla="val 5263"/>
            </a:avLst>
          </a:prstGeom>
          <a:solidFill>
            <a:srgbClr val="F1F8E9"/>
          </a:solidFill>
          <a:ln/>
          <a:effectLst>
            <a:outerShdw sx="100000" sy="100000" kx="0" ky="0" algn="bl" rotWithShape="0" blurRad="7.042139806488305e+49" dist="3.5210699032441527e+49" dir="5.8773123072e+59">
              <a:srgbClr val="000000">
                <a:alpha val="8e+5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371600"/>
            <a:ext cx="260604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42900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华为云IoTDA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40480" y="2880360"/>
            <a:ext cx="1508760" cy="18288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154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设备影子同步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35387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REST API通信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9227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IAM Token认证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11880" y="43068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数据安全存储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371600"/>
            <a:ext cx="2606040" cy="4572000"/>
          </a:xfrm>
          <a:prstGeom prst="roundRect">
            <a:avLst>
              <a:gd name="adj" fmla="val 5263"/>
            </a:avLst>
          </a:prstGeom>
          <a:solidFill>
            <a:srgbClr val="F1F8E9"/>
          </a:solidFill>
          <a:ln/>
          <a:effectLst>
            <a:outerShdw sx="100000" sy="100000" kx="0" ky="0" algn="bl" rotWithShape="0" blurRad="8.943517554240149e+53" dist="4.471758777120074e+53" dir="3.52638738432e+64">
              <a:srgbClr val="000000">
                <a:alpha val="7.999999999999999e+63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371600"/>
            <a:ext cx="2606040" cy="73152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🔌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26364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 边缘端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75120" y="2880360"/>
            <a:ext cx="1508760" cy="18288"/>
          </a:xfrm>
          <a:prstGeom prst="rect">
            <a:avLst/>
          </a:prstGeom>
          <a:solidFill>
            <a:srgbClr val="EF6C00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154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多传感器阵列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5387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WiFi数据上云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39227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CNN火情推理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3068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GPIO外设联动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61120" y="1371600"/>
            <a:ext cx="2606040" cy="4572000"/>
          </a:xfrm>
          <a:prstGeom prst="roundRect">
            <a:avLst>
              <a:gd name="adj" fmla="val 5263"/>
            </a:avLst>
          </a:prstGeom>
          <a:solidFill>
            <a:srgbClr val="F1F8E9"/>
          </a:solidFill>
          <a:ln/>
          <a:effectLst>
            <a:outerShdw sx="100000" sy="100000" kx="0" ky="0" algn="bl" rotWithShape="0" blurRad="1.1358267293884988e+58" dist="5.679133646942494e+57" dir="2.115832430592e+69">
              <a:srgbClr val="000000">
                <a:alpha val="7.999999999999999e+68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961120" y="1371600"/>
            <a:ext cx="2606040" cy="7315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6" name="Text 34"/>
          <p:cNvSpPr/>
          <p:nvPr/>
        </p:nvSpPr>
        <p:spPr>
          <a:xfrm>
            <a:off x="896112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909828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图像识别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509760" y="2880360"/>
            <a:ext cx="1508760" cy="18288"/>
          </a:xfrm>
          <a:prstGeom prst="rect">
            <a:avLst/>
          </a:prstGeom>
          <a:solidFill>
            <a:srgbClr val="6A1B9A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281160" y="3154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明火/阴燃/烟雾分类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81160" y="35387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置信度量化输出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81160" y="39227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高温区域检测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81160" y="43068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火情分级判定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界面展示说明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INTERFACE SHOWCASE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172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424999463233936e+62" dist="7.212499731616968e+61" dir="1.2694994583552e+74">
              <a:srgbClr val="000000">
                <a:alpha val="7.999999999999999e+7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3429000" cy="5943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716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森林绿渐变背景 + 白色卡片 + Logo区域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28803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80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深绿到浅绿线性渐变背景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半透明装饰光斑营造层次感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白色圆角登录卡片，阴影悬浮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4663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用户名/密码输入 + 一键登录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2336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83197493183071e+66" dist="9.15987465915355e+65" dir="7.6169967501312e+78">
              <a:srgbClr val="000000">
                <a:alpha val="7.999999999999998e+7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23360" y="1371600"/>
            <a:ext cx="3429000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13716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主监控页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火情等级大卡片 + 传感器列表 + 操作区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2651760"/>
            <a:ext cx="28803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2880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顶部深绿导航栏 + 监测中状态标签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5196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火情等级大卡片，彩色边框+背景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5196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6项传感器数据，异常值自动变色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51960" y="4663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一键报警(红) + 防火策略(深绿)按钮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8096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3266081634250016e+70" dist="1.1633040817125008e+70" dir="4.57019805007872e+83">
              <a:srgbClr val="000000">
                <a:alpha val="7.999999999999998e+83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0" y="1371600"/>
            <a:ext cx="342900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13716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防火策略页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双Tab设计 + 四色卡片 + 编号列表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2651760"/>
            <a:ext cx="28803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8"/>
          <p:cNvSpPr/>
          <p:nvPr/>
        </p:nvSpPr>
        <p:spPr>
          <a:xfrm>
            <a:off x="7909560" y="2880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深绿导航栏 + 返回按钮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90956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火灾等级评判 / 防火策略 双Tab切换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0956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四级火情彩色卡片 + 评判标准清单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09560" y="4663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四级策略编号列表 + 详细措施说明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OUTLOOK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121920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172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029200" cy="4663440"/>
          </a:xfrm>
          <a:prstGeom prst="roundRect">
            <a:avLst>
              <a:gd name="adj" fmla="val 2941"/>
            </a:avLst>
          </a:prstGeom>
          <a:solidFill>
            <a:srgbClr val="F1F8E9"/>
          </a:solidFill>
          <a:ln/>
          <a:effectLst>
            <a:outerShdw sx="100000" sy="100000" kx="0" ky="0" algn="bl" rotWithShape="0" blurRad="2.954792367549752e+74" dist="1.477396183774876e+74" dir="2.742118830047232e+88">
              <a:srgbClr val="000000">
                <a:alpha val="7.999999999999998e+8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1371600" cy="274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40280"/>
            <a:ext cx="4480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86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端-云-边协同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578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STM32感知 + 华为云IoT + HarmonyOS App，三层架构一体化闭环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4480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54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四级精准预警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4472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安全→注意→警告→危险，多传感器融合+AI置信度双重判定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4480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分级防火策略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315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四个等级配套详细应对措施，覆盖预防到扑救全场景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846320"/>
            <a:ext cx="4480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92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国产技术栈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184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+ 华为云IoT，自主可控，适配国产化生态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137160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126480" y="1965960"/>
            <a:ext cx="1371600" cy="27432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75120" y="22860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引入YOLO目标检测替代CNN，提升多目标火焰识别精度与实时性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5120" y="3063240"/>
            <a:ext cx="4114800" cy="9144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75120" y="3200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接入气象数据（风速、风向、降雨），构建火灾蔓延预测模型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75120" y="3977640"/>
            <a:ext cx="4114800" cy="9144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🛸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75120" y="4114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扩展无人机联动巡检，实现自动巡航 + 热成像复核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75120" y="4892040"/>
            <a:ext cx="4114800" cy="9144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675120" y="5029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多林区组网协同，构建区域级森林防火预警网络，数据共享互通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971800"/>
            <a:ext cx="853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99999"/>
                </a:solidFill>
              </a:rPr>
              <a:t>（内容由AI生成，仅供参考）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森防慧眼 - 森林烟雾火焰智能识别与早期预警系统</dc:title>
  <dc:subject>PptxGenJS Presentation</dc:subject>
  <dc:creator>东北大学</dc:creator>
  <cp:lastModifiedBy>东北大学</cp:lastModifiedBy>
  <cp:revision>1</cp:revision>
  <dcterms:created xsi:type="dcterms:W3CDTF">2026-07-02T12:48:49Z</dcterms:created>
  <dcterms:modified xsi:type="dcterms:W3CDTF">2026-07-02T12:48:49Z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XGW3","ProduceID":"a78efefe214933148b48b5ad08d2c821_ef340cb0761411f1a7da5254006c9bbf","ReservedCode1":"1C6zsnBVfxlUaSxl7yHjc+HfoO75gfEeDOdbTHjX5OQ6UcOA3fnm7PdwB0SCVeMGQ7zJAOWljFPHBnwAwhV9Sxmq5AZmYtbIiURvOcMZpCUF5/YBSjBQ1RyANxe2H4uVTKXyEyLMpW9fu6n5JwlUOaje8EN7wurklihsL0vR9eVEzDROaO5Ke2jg1t8=","ContentPropagator":"001191440300708461136T1XGW3","PropagateID":"a78efefe214933148b48b5ad08d2c821_ef340cb0761411f1a7da5254006c9bbf","ReservedCode2":"1C6zsnBVfxlUaSxl7yHjc+HfoO75gfEeDOdbTHjX5OQ6UcOA3fnm7PdwB0SCVeMGQ7zJAOWljFPHBnwAwhV9Sxmq5AZmYtbIiURvOcMZpCUF5/YBSjBQ1RyANxe2H4uVTKXyEyLMpW9fu6n5JwlUOaje8EN7wurklihsL0vR9eVEzDROaO5Ke2jg1t8="}</vt:lpwstr>
  </property>
</Properties>
</file>